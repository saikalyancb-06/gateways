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RESEARCHOPS EXECUTIVE DECK  •  OPERATIONAL INQUIRY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1. Problem Scope &amp; Strategic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01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Inquiry Background &amp; Target Context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Inquiry: Viability of subscription loyalty models for regional food &amp; quick-commerce aggregators in India.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Primary Goal: Determine if order frequency expansion compensates for free delivery absorption.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Target Baseline: Positive unit contribution within 9 months across Tier-1/Tier-2 metro cohorts.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Hypothesis 1: Subscribed users demonstrate 2.5x to 3.2x higher 30-day order frequency.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Hypothesis 2: Merchant co-funded dining discounts (15–20%) bridge platform delivery subsidies.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Epistemic Target: Rigorously audit claims against adversarial margin stress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59E0B"/>
                </a:solidFill>
              </a:defRPr>
            </a:pPr>
            <a:r>
              <a:t>Multi-Agent Investigation Matrix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4 Specialized Agents Deployed: Competitor, Market, Regulation &amp; Adversarial Challenger.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4 Empirical Claims Filed &amp; Cross-Examined in Judicial Arbitration Court.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12 Primary Industry Sources Admitted across Tier-1 benchmark filings.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Critical Gate: DPDP Act 2023 consent compliance for location tracking &amp; marketing algorithms.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Financial Gate: Minimum Order Value (MOV) threshold sensitivity for EBITDA breakeven.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Research Standard: Independent verification with zero unverified hearsay allowed.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RESEARCHOPS EXECUTIVE DECK  •  COMPETITIVE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2. Competitor Moats &amp; Incumbent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02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Swiggy One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Pricing: ₹149 - ₹299 / 3 months introductory pricing.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Cross-Ecosystem Moat: Bundled across Food Delivery, Instamart (Quick Comm), and Dineout.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MOV Floor: ₹149 minimum order value for free delivery.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Moat Strength: High multi-vertical retention; 3.1x monthly ordering velocity.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Vulnerability: Extreme last-mile subsidy burden during peak rain/festival surges.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EF4444"/>
                </a:solidFill>
              </a:defRPr>
            </a:pPr>
            <a:r>
              <a:t>Zomato Gold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Pricing: ₹99 - ₹199 quarterly VIP membership.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Dining Co-Funding: Up to 25% off dining bill co-funded by restaurant partners.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MOV Floor: ₹199 strict threshold; orders below pay full delivery fee.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Moat Strength: High cash generation from restaurant upfront partner commissions.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Vulnerability: Periodic partner revolt over deep discounting and dining fee absorption.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Regional Challenger Playbook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Do NOT engage in unconstrained delivery subsidies.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Implement ₹249 MOV Floor: Gating orders below ₹249 prevents -₹18 EBITDA bleed.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Merchant Co-Funding: Secure 12-15% co-funded tier from top 20% anchor merchants.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Defensibility Moat: Focus on localized density &amp; route batching to cut delivery cost by 22%.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RESEARCHOPS EXECUTIVE DECK  •  TAM &amp; EXPANSION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3. Market Sizing &amp; Penetration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03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1645920"/>
          </a:xfrm>
          <a:prstGeom prst="roundRect">
            <a:avLst/>
          </a:prstGeom>
          <a:solidFill>
            <a:srgbClr val="131D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₹1.80 Lakh Crore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Projected 2027 India Food Delivery TAM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1645920"/>
          </a:xfrm>
          <a:prstGeom prst="roundRect">
            <a:avLst/>
          </a:prstGeom>
          <a:solidFill>
            <a:srgbClr val="131D3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28.4% CAGR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Market Compound Annual Growth Rate (2023-2027)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1645920"/>
          </a:xfrm>
          <a:prstGeom prst="roundRect">
            <a:avLst/>
          </a:prstGeom>
          <a:solidFill>
            <a:srgbClr val="131D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2.85x Multiplier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Subscribed vs Non-Subscribed 30-Day Order Frequency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2834640"/>
          </a:xfrm>
          <a:prstGeom prst="roundRect">
            <a:avLst/>
          </a:prstGeom>
          <a:solidFill>
            <a:srgbClr val="131D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Key Market Dynamics &amp; Addressable Cohort Sizing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Tier-1 Saturation: 68% of food GMV concentrated in top 8 cities; subscriber penetration exceeds 34%.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Tier-2 Growth Corridor: 42% YoY expansion in Jaipur, Lucknow, Ahmedabad, Chandigarh where aggregator loyalty is nascent.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Basket Size Elasticity: Free delivery increases order frequency by 180% but lowers average basket by 12% without MOV gates.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Merchant Retention Flywheel: Partner retention surges by 2.4x under co-funded rebate architectures.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RESEARCHOPS EXECUTIVE DECK  •  VULNERABILITY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4. Adversarial Red-Team Audit &amp; Margin Stress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04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31D3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Risk 1: Last-Mile Margin Bleed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Unconstrained delivery fee absorption turns unit contribution to -₹18/order when MOV drops below ₹200. Peak weather delivery surges amplify burn.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698480" cy="1371600"/>
          </a:xfrm>
          <a:prstGeom prst="roundRect">
            <a:avLst/>
          </a:prstGeom>
          <a:solidFill>
            <a:srgbClr val="131D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Risk 2: DPDP Act 2023 Statutory Exposure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Statutory penalties up to ₹250 Crore for processing customer location &amp; behavioral order frequency data without verifiable consent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131D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Risk 3: Churn Shock &amp; Retention Cliff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Cohort drop-off spikes to 38% after 90-day introductory promotion expires, triggering premature CAC re-acquisition expenditure.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RESEARCHOPS EXECUTIVE DECK  •  JUDICIAL DECREE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5. Binding Verdict — Evidence Court Ruling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05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59E0B"/>
                </a:solidFill>
              </a:defRPr>
            </a:pPr>
            <a:r>
              <a:t>OFFICIAL JUDICIAL RULING BY CHIEF JUSTICE SHARMA</a:t>
            </a:r>
          </a:p>
          <a:p>
            <a:pPr>
              <a:spcBef>
                <a:spcPts val="600"/>
              </a:spcBef>
              <a:defRPr b="1" sz="1300">
                <a:solidFill>
                  <a:srgbClr val="F8FAFC"/>
                </a:solidFill>
              </a:defRPr>
            </a:pPr>
            <a:r>
              <a:t>VERDICT: CLAIM IS QUALIFIED WITH BINDING OPERATIONAL CONDITIONS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Binding Caveat 1 (MOV Floor): Program approval is conditional on dynamic Minimum Order Value floor ≥ ₹249. Orders below ₹249 must pay full delivery fee.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Binding Caveat 2 (Statutory DPDP Compliance): Mandatory quarterly independent consent architecture audits to mitigate ₹250 Cr statutory exposure.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Binding Caveat 3 (Contingency Reserve Allocation): 15% of subscription fee revenue must be held in segregated reserve to cushion peak monsoon driver surges.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Judicial Finding: While baseline commercial feasibility is substantiated by 2.8x order lift, unconstrained subsidies violate corporate fiduciary standards.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RESEARCHOPS EXECUTIVE DECK  •  EXECUTION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6. Phased Rollout Roadmap &amp; Implementation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06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Phase 1: Pilot &amp; Guardrails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Days 1 — 30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Launch in 3 high-density Tier-1 test clusters.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Enforce strict ₹249 MOV gating at checkout.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Deploy automated DPDP consent logging pipeline.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Target: ≥ ₹35 Contribution Margin /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59E0B"/>
                </a:solidFill>
              </a:defRPr>
            </a:pPr>
            <a:r>
              <a:t>Phase 2: Partner Rebates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Days 31 — 90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Onboard 40+ anchor restaurants into 15% co-funded model.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Tune order frequency pacing algorithms.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Audit cohort churn against 7.5% ceiling threshold.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Target: 90-day Capex payback achieved.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1D3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Phase 3: Regional Scale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Days 91 — 180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Expand to 12 Tier-2 metro corridors.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Introduce tiered quarterly pass with cross-dining perks.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Lock in route batching efficiencies to lower delivery costs.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Target: Net positive EBITDA across all operating clusters.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